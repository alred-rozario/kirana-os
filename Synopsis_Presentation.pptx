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1F3864"/>
                </a:solidFill>
                <a:latin typeface="Calibri"/>
              </a:defRPr>
            </a:pPr>
            <a:r>
              <a:rPr sz="1200" b="1" i="0" u="none" strike="noStrike">
                <a:solidFill>
                  <a:srgbClr val="1F3864"/>
                </a:solidFill>
                <a:latin typeface="Calibri"/>
              </a:rPr>
              <a:t>Type of store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Type of store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86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168-42C2-9572-ACB0D53C48C6}"/>
              </c:ext>
            </c:extLst>
          </c:dPt>
          <c:dPt>
            <c:idx val="1"/>
            <c:bubble3D val="0"/>
            <c:spPr>
              <a:solidFill>
                <a:srgbClr val="B5651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168-42C2-9572-ACB0D53C48C6}"/>
              </c:ext>
            </c:extLst>
          </c:dPt>
          <c:dPt>
            <c:idx val="2"/>
            <c:bubble3D val="0"/>
            <c:spPr>
              <a:solidFill>
                <a:srgbClr val="4A90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168-42C2-9572-ACB0D53C48C6}"/>
              </c:ext>
            </c:extLst>
          </c:dPt>
          <c:dPt>
            <c:idx val="3"/>
            <c:bubble3D val="0"/>
            <c:spPr>
              <a:solidFill>
                <a:srgbClr val="C9A2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168-42C2-9572-ACB0D53C48C6}"/>
              </c:ext>
            </c:extLst>
          </c:dPt>
          <c:dPt>
            <c:idx val="4"/>
            <c:bubble3D val="0"/>
            <c:spPr>
              <a:solidFill>
                <a:srgbClr val="8E44A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168-42C2-9572-ACB0D53C48C6}"/>
              </c:ext>
            </c:extLst>
          </c:dPt>
          <c:dPt>
            <c:idx val="5"/>
            <c:bubble3D val="0"/>
            <c:spPr>
              <a:solidFill>
                <a:srgbClr val="5D6D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168-42C2-9572-ACB0D53C48C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168-42C2-9572-ACB0D53C48C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168-42C2-9572-ACB0D53C48C6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168-42C2-9572-ACB0D53C48C6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168-42C2-9572-ACB0D53C48C6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168-42C2-9572-ACB0D53C48C6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168-42C2-9572-ACB0D53C48C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General Store</c:v>
                </c:pt>
                <c:pt idx="1">
                  <c:v>Confectionery</c:v>
                </c:pt>
                <c:pt idx="2">
                  <c:v>Bakery</c:v>
                </c:pt>
                <c:pt idx="3">
                  <c:v>Kirana</c:v>
                </c:pt>
                <c:pt idx="4">
                  <c:v>Gaming</c:v>
                </c:pt>
                <c:pt idx="5">
                  <c:v>Chaap Store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168-42C2-9572-ACB0D53C48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1F3864"/>
                </a:solidFill>
                <a:latin typeface="Calibri"/>
              </a:defRPr>
            </a:pPr>
            <a:r>
              <a:rPr sz="1200" b="1" i="0" u="none" strike="noStrike">
                <a:solidFill>
                  <a:srgbClr val="1F3864"/>
                </a:solidFill>
                <a:latin typeface="Calibri"/>
              </a:rPr>
              <a:t>Number of employees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86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D5E-4BD9-98D3-F11CC7586948}"/>
              </c:ext>
            </c:extLst>
          </c:dPt>
          <c:dPt>
            <c:idx val="1"/>
            <c:bubble3D val="0"/>
            <c:spPr>
              <a:solidFill>
                <a:srgbClr val="B5651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D5E-4BD9-98D3-F11CC7586948}"/>
              </c:ext>
            </c:extLst>
          </c:dPt>
          <c:dPt>
            <c:idx val="2"/>
            <c:bubble3D val="0"/>
            <c:spPr>
              <a:solidFill>
                <a:srgbClr val="4A90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D5E-4BD9-98D3-F11CC758694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D5E-4BD9-98D3-F11CC758694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D5E-4BD9-98D3-F11CC758694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D5E-4BD9-98D3-F11CC758694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1 (owner only)</c:v>
                </c:pt>
                <c:pt idx="1">
                  <c:v>2–5</c:v>
                </c:pt>
                <c:pt idx="2">
                  <c:v>6–10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7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D5E-4BD9-98D3-F11CC75869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1F3864"/>
                </a:solidFill>
                <a:latin typeface="Calibri"/>
              </a:defRPr>
            </a:pPr>
            <a:r>
              <a:rPr lang="en-IN" sz="1100" b="1" i="0" u="none" strike="noStrike">
                <a:solidFill>
                  <a:srgbClr val="1F3864"/>
                </a:solidFill>
                <a:latin typeface="Calibri"/>
              </a:rPr>
              <a:t>Billing method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Billing method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86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25C-4B38-BA24-2A7CCAD2CB38}"/>
              </c:ext>
            </c:extLst>
          </c:dPt>
          <c:dPt>
            <c:idx val="1"/>
            <c:bubble3D val="0"/>
            <c:spPr>
              <a:solidFill>
                <a:srgbClr val="B5651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25C-4B38-BA24-2A7CCAD2CB38}"/>
              </c:ext>
            </c:extLst>
          </c:dPt>
          <c:dPt>
            <c:idx val="2"/>
            <c:bubble3D val="0"/>
            <c:spPr>
              <a:solidFill>
                <a:srgbClr val="4A90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25C-4B38-BA24-2A7CCAD2CB38}"/>
              </c:ext>
            </c:extLst>
          </c:dPt>
          <c:dPt>
            <c:idx val="3"/>
            <c:bubble3D val="0"/>
            <c:spPr>
              <a:solidFill>
                <a:srgbClr val="C9A2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25C-4B38-BA24-2A7CCAD2CB3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25C-4B38-BA24-2A7CCAD2CB3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25C-4B38-BA24-2A7CCAD2CB3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25C-4B38-BA24-2A7CCAD2CB38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25C-4B38-BA24-2A7CCAD2CB3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Handwritten</c:v>
                </c:pt>
                <c:pt idx="1">
                  <c:v>Billing Machine</c:v>
                </c:pt>
                <c:pt idx="2">
                  <c:v>No Form Billing</c:v>
                </c:pt>
                <c:pt idx="3">
                  <c:v>Calculator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4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25C-4B38-BA24-2A7CCAD2CB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1F3864"/>
                </a:solidFill>
                <a:latin typeface="Calibri"/>
              </a:defRPr>
            </a:pPr>
            <a:r>
              <a:rPr lang="en-IN" sz="1100" b="1" i="0" u="none" strike="noStrike">
                <a:solidFill>
                  <a:srgbClr val="1F3864"/>
                </a:solidFill>
                <a:latin typeface="Calibri"/>
              </a:rPr>
              <a:t>Inventory tracking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 tracking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86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0E1-4A5D-AFDF-C83E525D20CD}"/>
              </c:ext>
            </c:extLst>
          </c:dPt>
          <c:dPt>
            <c:idx val="1"/>
            <c:bubble3D val="0"/>
            <c:spPr>
              <a:solidFill>
                <a:srgbClr val="B5651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0E1-4A5D-AFDF-C83E525D20CD}"/>
              </c:ext>
            </c:extLst>
          </c:dPt>
          <c:dPt>
            <c:idx val="2"/>
            <c:bubble3D val="0"/>
            <c:spPr>
              <a:solidFill>
                <a:srgbClr val="4A90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0E1-4A5D-AFDF-C83E525D20CD}"/>
              </c:ext>
            </c:extLst>
          </c:dPt>
          <c:dPt>
            <c:idx val="3"/>
            <c:bubble3D val="0"/>
            <c:spPr>
              <a:solidFill>
                <a:srgbClr val="C9A2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0E1-4A5D-AFDF-C83E525D20C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0E1-4A5D-AFDF-C83E525D20C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0E1-4A5D-AFDF-C83E525D20C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0E1-4A5D-AFDF-C83E525D20CD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0E1-4A5D-AFDF-C83E525D20C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Register</c:v>
                </c:pt>
                <c:pt idx="1">
                  <c:v>Excel</c:v>
                </c:pt>
                <c:pt idx="2">
                  <c:v>Notebook</c:v>
                </c:pt>
                <c:pt idx="3">
                  <c:v>Software (Tally/Marg)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0E1-4A5D-AFDF-C83E525D20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1F3864"/>
                </a:solidFill>
                <a:latin typeface="Calibri"/>
              </a:defRPr>
            </a:pPr>
            <a:r>
              <a:rPr lang="en-IN" sz="1100" b="1" i="0" u="none" strike="noStrike">
                <a:solidFill>
                  <a:srgbClr val="1F3864"/>
                </a:solidFill>
                <a:latin typeface="Calibri"/>
              </a:rPr>
              <a:t>Restocking frequency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Restocking frequency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86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816-407D-A6B5-B56D81DE2A03}"/>
              </c:ext>
            </c:extLst>
          </c:dPt>
          <c:dPt>
            <c:idx val="1"/>
            <c:bubble3D val="0"/>
            <c:spPr>
              <a:solidFill>
                <a:srgbClr val="B5651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816-407D-A6B5-B56D81DE2A03}"/>
              </c:ext>
            </c:extLst>
          </c:dPt>
          <c:dPt>
            <c:idx val="2"/>
            <c:bubble3D val="0"/>
            <c:spPr>
              <a:solidFill>
                <a:srgbClr val="4A90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816-407D-A6B5-B56D81DE2A0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816-407D-A6B5-B56D81DE2A0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816-407D-A6B5-B56D81DE2A0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816-407D-A6B5-B56D81DE2A0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Weekly</c:v>
                </c:pt>
                <c:pt idx="1">
                  <c:v>Daily</c:v>
                </c:pt>
                <c:pt idx="2">
                  <c:v>Monthly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816-407D-A6B5-B56D81DE2A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1F3864"/>
                </a:solidFill>
                <a:latin typeface="Calibri"/>
              </a:defRPr>
            </a:pPr>
            <a:r>
              <a:rPr lang="en-IN" sz="1100" b="1" i="0" u="none" strike="noStrike">
                <a:solidFill>
                  <a:srgbClr val="1F3864"/>
                </a:solidFill>
                <a:latin typeface="Calibri"/>
              </a:rPr>
              <a:t>Uses any software/app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Uses any software/app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86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4F7-410C-B558-AAE977B8A764}"/>
              </c:ext>
            </c:extLst>
          </c:dPt>
          <c:dPt>
            <c:idx val="1"/>
            <c:bubble3D val="0"/>
            <c:spPr>
              <a:solidFill>
                <a:srgbClr val="B5651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4F7-410C-B558-AAE977B8A76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4F7-410C-B558-AAE977B8A76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4F7-410C-B558-AAE977B8A76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4F7-410C-B558-AAE977B8A7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0415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SYNOPSIS PRESENTATION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6675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KIRANA-OS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gathering, analysis and proposed system for general, kirana,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confectionery, sweet-shop and bakery retailers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76732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ALRED ROZARIO 24215105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BHAVYANSHU BHATIA 24215115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PRIYANSHU SINGH TANWAR 24215130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5BCA-B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491032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[Prof. LATA YADAV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6263640"/>
            <a:ext cx="6492240" cy="0"/>
          </a:xfrm>
          <a:prstGeom prst="line">
            <a:avLst/>
          </a:prstGeom>
          <a:noFill/>
          <a:ln w="12700">
            <a:solidFill>
              <a:srgbClr val="CFD5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35508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of Institute / University]  ·  [Department]  ·  August 2026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635240" y="640080"/>
            <a:ext cx="4023360" cy="5577840"/>
          </a:xfrm>
          <a:prstGeom prst="roundRect">
            <a:avLst>
              <a:gd name="adj" fmla="val 1818"/>
            </a:avLst>
          </a:prstGeom>
          <a:solidFill>
            <a:srgbClr val="E9EEF6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09560" y="868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COUNTER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09560" y="1380744"/>
            <a:ext cx="146304" cy="146304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4" name="Text 12"/>
          <p:cNvSpPr/>
          <p:nvPr/>
        </p:nvSpPr>
        <p:spPr>
          <a:xfrm>
            <a:off x="8183880" y="1325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09560" y="1883664"/>
            <a:ext cx="146304" cy="146304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1828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09560" y="2386584"/>
            <a:ext cx="146304" cy="146304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8" name="Text 16"/>
          <p:cNvSpPr/>
          <p:nvPr/>
        </p:nvSpPr>
        <p:spPr>
          <a:xfrm>
            <a:off x="8183880" y="23317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Udhaar ledger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9560" y="2889504"/>
            <a:ext cx="146304" cy="146304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20" name="Text 18"/>
          <p:cNvSpPr/>
          <p:nvPr/>
        </p:nvSpPr>
        <p:spPr>
          <a:xfrm>
            <a:off x="8183880" y="28346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909560" y="3392424"/>
            <a:ext cx="146304" cy="146304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22" name="Text 20"/>
          <p:cNvSpPr/>
          <p:nvPr/>
        </p:nvSpPr>
        <p:spPr>
          <a:xfrm>
            <a:off x="8183880" y="33375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909560" y="3895344"/>
            <a:ext cx="146304" cy="146304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24" name="Text 22"/>
          <p:cNvSpPr/>
          <p:nvPr/>
        </p:nvSpPr>
        <p:spPr>
          <a:xfrm>
            <a:off x="8183880" y="38404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909560" y="4389120"/>
            <a:ext cx="3474720" cy="0"/>
          </a:xfrm>
          <a:prstGeom prst="line">
            <a:avLst/>
          </a:prstGeom>
          <a:noFill/>
          <a:ln w="12700">
            <a:solidFill>
              <a:srgbClr val="CFD5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9560" y="4526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proposed system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4241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Primary, secondary and indirect participants in the system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5743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  —  shop owners  ·  based on 12 pilot responses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874520"/>
          <a:ext cx="35661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/>
        </p:nvGraphicFramePr>
        <p:xfrm>
          <a:off x="4160520" y="1874520"/>
          <a:ext cx="35661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489204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in business (12 responses): mostly 2–5 years, with a few long-established stores; two responses (“1000”, “Infinity”) were not usable and are excluded from analysis.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8001000" y="1874520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E9EEF6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 —  Staff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229600" y="239572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/ billing staff · restocking staff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staff login, owner controls access (Q23)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001000" y="3703320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E9EEF6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229600" y="3886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 —  stored as records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229600" y="422452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 / vendors (Q12, Q29) · credit customers (Q13, Q28)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branches, if any (Q19)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57200" y="6446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type and employee counts are actual Google Form responses (12 of the target sample, collected as of Aug 2026). Staff and multi-branch use are separate questions in the form — actual demand will be confirmed once all responses are in.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4241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user input to a structured requirement set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5743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4F6FA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19659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1906524"/>
            <a:ext cx="219456" cy="164592"/>
          </a:xfrm>
          <a:prstGeom prst="rightArrow">
            <a:avLst/>
          </a:prstGeom>
          <a:solidFill>
            <a:srgbClr val="B5651D"/>
          </a:solidFill>
          <a:ln/>
        </p:spPr>
      </p:sp>
      <p:sp>
        <p:nvSpPr>
          <p:cNvPr id="9" name="Shape 7"/>
          <p:cNvSpPr/>
          <p:nvPr/>
        </p:nvSpPr>
        <p:spPr>
          <a:xfrm>
            <a:off x="2679192" y="155448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4F6FA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9192" y="1554480"/>
            <a:ext cx="19659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sections · 38 questions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906524"/>
            <a:ext cx="219456" cy="164592"/>
          </a:xfrm>
          <a:prstGeom prst="rightArrow">
            <a:avLst/>
          </a:prstGeom>
          <a:solidFill>
            <a:srgbClr val="B5651D"/>
          </a:solidFill>
          <a:ln/>
        </p:spPr>
      </p:sp>
      <p:sp>
        <p:nvSpPr>
          <p:cNvPr id="12" name="Shape 10"/>
          <p:cNvSpPr/>
          <p:nvPr/>
        </p:nvSpPr>
        <p:spPr>
          <a:xfrm>
            <a:off x="4901184" y="155448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E9EEF6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1554480"/>
            <a:ext cx="19659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85432" y="1906524"/>
            <a:ext cx="219456" cy="164592"/>
          </a:xfrm>
          <a:prstGeom prst="rightArrow">
            <a:avLst/>
          </a:prstGeom>
          <a:solidFill>
            <a:srgbClr val="B5651D"/>
          </a:solidFill>
          <a:ln/>
        </p:spPr>
      </p:sp>
      <p:sp>
        <p:nvSpPr>
          <p:cNvPr id="15" name="Shape 13"/>
          <p:cNvSpPr/>
          <p:nvPr/>
        </p:nvSpPr>
        <p:spPr>
          <a:xfrm>
            <a:off x="7123176" y="155448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4F6FA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23176" y="1554480"/>
            <a:ext cx="19659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07424" y="1906524"/>
            <a:ext cx="219456" cy="164592"/>
          </a:xfrm>
          <a:prstGeom prst="rightArrow">
            <a:avLst/>
          </a:prstGeom>
          <a:solidFill>
            <a:srgbClr val="B5651D"/>
          </a:solidFill>
          <a:ln/>
        </p:spPr>
      </p:sp>
      <p:sp>
        <p:nvSpPr>
          <p:cNvPr id="18" name="Shape 16"/>
          <p:cNvSpPr/>
          <p:nvPr/>
        </p:nvSpPr>
        <p:spPr>
          <a:xfrm>
            <a:off x="9345168" y="155448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4F6FA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45168" y="1554480"/>
            <a:ext cx="19659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743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GROUPED INTO FIVE CATEGORIES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2066544" cy="2834640"/>
          </a:xfrm>
          <a:prstGeom prst="roundRect">
            <a:avLst>
              <a:gd name="adj" fmla="val 3540"/>
            </a:avLst>
          </a:prstGeom>
          <a:solidFill>
            <a:srgbClr val="E9EEF6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273552"/>
            <a:ext cx="365760" cy="3657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273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" y="373075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4005072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 – Q26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" y="4279392"/>
            <a:ext cx="1792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billing, barcode, expiry and low-stock alerts, supplier records, udhaar ledger, reports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651760" y="3108960"/>
            <a:ext cx="2066544" cy="2834640"/>
          </a:xfrm>
          <a:prstGeom prst="roundRect">
            <a:avLst>
              <a:gd name="adj" fmla="val 3540"/>
            </a:avLst>
          </a:prstGeom>
          <a:solidFill>
            <a:srgbClr val="E9EEF6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88920" y="3273552"/>
            <a:ext cx="365760" cy="3657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9" name="Text 27"/>
          <p:cNvSpPr/>
          <p:nvPr/>
        </p:nvSpPr>
        <p:spPr>
          <a:xfrm>
            <a:off x="2788920" y="3273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788920" y="373075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788920" y="4005072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Q27 – Q30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788920" y="4279392"/>
            <a:ext cx="1792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to store for products, customers, suppliers, and historical sales data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46320" y="3108960"/>
            <a:ext cx="2066544" cy="2834640"/>
          </a:xfrm>
          <a:prstGeom prst="roundRect">
            <a:avLst>
              <a:gd name="adj" fmla="val 3540"/>
            </a:avLst>
          </a:prstGeom>
          <a:solidFill>
            <a:srgbClr val="E9EEF6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83480" y="3273552"/>
            <a:ext cx="365760" cy="3657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5" name="Text 33"/>
          <p:cNvSpPr/>
          <p:nvPr/>
        </p:nvSpPr>
        <p:spPr>
          <a:xfrm>
            <a:off x="4983480" y="3273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983480" y="373075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83480" y="4005072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Q31 – Q34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983480" y="4279392"/>
            <a:ext cx="1792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used at the shop, interface language, comfort with technology, simple vs detailed dashboard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040880" y="3108960"/>
            <a:ext cx="2066544" cy="2834640"/>
          </a:xfrm>
          <a:prstGeom prst="roundRect">
            <a:avLst>
              <a:gd name="adj" fmla="val 3540"/>
            </a:avLst>
          </a:prstGeom>
          <a:solidFill>
            <a:srgbClr val="E9EEF6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78040" y="3273552"/>
            <a:ext cx="365760" cy="3657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1" name="Text 39"/>
          <p:cNvSpPr/>
          <p:nvPr/>
        </p:nvSpPr>
        <p:spPr>
          <a:xfrm>
            <a:off x="7178040" y="3273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78040" y="373075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178040" y="4005072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Q22–Q24, Q32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178040" y="4279392"/>
            <a:ext cx="1792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billing, multi-user access, web + mobile platform, multi-language support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235440" y="3108960"/>
            <a:ext cx="2066544" cy="2834640"/>
          </a:xfrm>
          <a:prstGeom prst="roundRect">
            <a:avLst>
              <a:gd name="adj" fmla="val 3540"/>
            </a:avLst>
          </a:prstGeom>
          <a:solidFill>
            <a:srgbClr val="E9EEF6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372600" y="3273552"/>
            <a:ext cx="365760" cy="3657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7" name="Text 45"/>
          <p:cNvSpPr/>
          <p:nvPr/>
        </p:nvSpPr>
        <p:spPr>
          <a:xfrm>
            <a:off x="9372600" y="3273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372600" y="373075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9372600" y="4005072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Q35 – Q38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9372600" y="4279392"/>
            <a:ext cx="1792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vs one-time model, acceptable price range, additional suggestions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57200" y="6446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follow the seven sections of the requirement-gathering form. No requirement is included that the form does not ask about.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4241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status and current-workflow findings so far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5743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E9EEF6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9047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collected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41732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E9EEF6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49047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37560" y="1874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types represented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0" y="141732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E9EEF6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149047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080760" y="1874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period (ongoing)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686800" y="141732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E9EEF6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23960" y="149047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823960" y="1874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in the form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2423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WORKFLOW  —  Q9 · Q10 · Q11 · Q7</a:t>
            </a:r>
            <a:endParaRPr lang="en-US" sz="12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457200" y="2788920"/>
          <a:ext cx="269748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Chart 1"/>
          <p:cNvGraphicFramePr/>
          <p:nvPr/>
        </p:nvGraphicFramePr>
        <p:xfrm>
          <a:off x="3273552" y="2788920"/>
          <a:ext cx="269748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1" name="Chart 2"/>
          <p:cNvGraphicFramePr/>
          <p:nvPr/>
        </p:nvGraphicFramePr>
        <p:xfrm>
          <a:off x="6089904" y="2788920"/>
          <a:ext cx="269748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2" name="Chart 3"/>
          <p:cNvGraphicFramePr/>
          <p:nvPr/>
        </p:nvGraphicFramePr>
        <p:xfrm>
          <a:off x="8906256" y="2788920"/>
          <a:ext cx="269748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3" name="Text 17"/>
          <p:cNvSpPr/>
          <p:nvPr/>
        </p:nvSpPr>
        <p:spPr>
          <a:xfrm>
            <a:off x="457200" y="6446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from 12 Google Form responses collected to date. Feature-demand (Q19–Q26) and usability/pricing (Q31–Q37) charts will be added once those sections have enough responses to report meaningfully.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4241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from raw responses to a prioritised feature set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5743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E9EEF6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19659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1769364"/>
            <a:ext cx="219456" cy="164592"/>
          </a:xfrm>
          <a:prstGeom prst="rightArrow">
            <a:avLst/>
          </a:prstGeom>
          <a:solidFill>
            <a:srgbClr val="B5651D"/>
          </a:solidFill>
          <a:ln/>
        </p:spPr>
      </p:sp>
      <p:sp>
        <p:nvSpPr>
          <p:cNvPr id="9" name="Shape 7"/>
          <p:cNvSpPr/>
          <p:nvPr/>
        </p:nvSpPr>
        <p:spPr>
          <a:xfrm>
            <a:off x="2679192" y="146304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4F6FA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9192" y="1463040"/>
            <a:ext cx="19659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by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type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769364"/>
            <a:ext cx="219456" cy="164592"/>
          </a:xfrm>
          <a:prstGeom prst="rightArrow">
            <a:avLst/>
          </a:prstGeom>
          <a:solidFill>
            <a:srgbClr val="B5651D"/>
          </a:solidFill>
          <a:ln/>
        </p:spPr>
      </p:sp>
      <p:sp>
        <p:nvSpPr>
          <p:cNvPr id="12" name="Shape 10"/>
          <p:cNvSpPr/>
          <p:nvPr/>
        </p:nvSpPr>
        <p:spPr>
          <a:xfrm>
            <a:off x="4901184" y="146304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4F6FA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1463040"/>
            <a:ext cx="19659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85432" y="1769364"/>
            <a:ext cx="219456" cy="164592"/>
          </a:xfrm>
          <a:prstGeom prst="rightArrow">
            <a:avLst/>
          </a:prstGeom>
          <a:solidFill>
            <a:srgbClr val="B5651D"/>
          </a:solidFill>
          <a:ln/>
        </p:spPr>
      </p:sp>
      <p:sp>
        <p:nvSpPr>
          <p:cNvPr id="15" name="Shape 13"/>
          <p:cNvSpPr/>
          <p:nvPr/>
        </p:nvSpPr>
        <p:spPr>
          <a:xfrm>
            <a:off x="7123176" y="146304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4F6FA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23176" y="1463040"/>
            <a:ext cx="19659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07424" y="1769364"/>
            <a:ext cx="219456" cy="164592"/>
          </a:xfrm>
          <a:prstGeom prst="rightArrow">
            <a:avLst/>
          </a:prstGeom>
          <a:solidFill>
            <a:srgbClr val="B5651D"/>
          </a:solidFill>
          <a:ln/>
        </p:spPr>
      </p:sp>
      <p:sp>
        <p:nvSpPr>
          <p:cNvPr id="18" name="Shape 16"/>
          <p:cNvSpPr/>
          <p:nvPr/>
        </p:nvSpPr>
        <p:spPr>
          <a:xfrm>
            <a:off x="9345168" y="146304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4F6FA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45168" y="1463040"/>
            <a:ext cx="19659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514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OBSERVATIONS FROM 12 RESPONSES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935224"/>
            <a:ext cx="128016" cy="128016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28803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41.7% of shops still bill by hand and another 33.3% use a standalone billing machine — no respondent yet uses an integrated shop-management system.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593592"/>
            <a:ext cx="128016" cy="128016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" y="353872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66.7% track inventory in a paper register; only one respondent (8.3%) uses dedicated inventory software.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251960"/>
            <a:ext cx="128016" cy="128016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419709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restock only weekly, which raises the risk of stock-outs going unnoticed between visits.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910328"/>
            <a:ext cx="128016" cy="128016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" y="485546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83.3% use no software or app at all; the 16.7% who do rely on generic billing apps (e.g. Vyapar), not an inventory + billing + udhaar system.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863840" y="2514600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E9EEF6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92440" y="26700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CATEGORIES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FORWARD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92440" y="3273552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sp>
        <p:nvSpPr>
          <p:cNvPr id="32" name="Text 30"/>
          <p:cNvSpPr/>
          <p:nvPr/>
        </p:nvSpPr>
        <p:spPr>
          <a:xfrm>
            <a:off x="8092440" y="327355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92440" y="3703320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sp>
        <p:nvSpPr>
          <p:cNvPr id="34" name="Text 32"/>
          <p:cNvSpPr/>
          <p:nvPr/>
        </p:nvSpPr>
        <p:spPr>
          <a:xfrm>
            <a:off x="8092440" y="370332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092440" y="4133088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sp>
        <p:nvSpPr>
          <p:cNvPr id="36" name="Text 34"/>
          <p:cNvSpPr/>
          <p:nvPr/>
        </p:nvSpPr>
        <p:spPr>
          <a:xfrm>
            <a:off x="8092440" y="41330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092440" y="4562856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sp>
        <p:nvSpPr>
          <p:cNvPr id="38" name="Text 36"/>
          <p:cNvSpPr/>
          <p:nvPr/>
        </p:nvSpPr>
        <p:spPr>
          <a:xfrm>
            <a:off x="8092440" y="456285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/ Udhaar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092440" y="4992624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sp>
        <p:nvSpPr>
          <p:cNvPr id="40" name="Text 38"/>
          <p:cNvSpPr/>
          <p:nvPr/>
        </p:nvSpPr>
        <p:spPr>
          <a:xfrm>
            <a:off x="8092440" y="499262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092440" y="5422392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sp>
        <p:nvSpPr>
          <p:cNvPr id="42" name="Text 40"/>
          <p:cNvSpPr/>
          <p:nvPr/>
        </p:nvSpPr>
        <p:spPr>
          <a:xfrm>
            <a:off x="8092440" y="542239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57200" y="6446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reflects the 12 responses collected so far. Feature priorities (Q19–Q26), database fields (Q27–Q30) and usability/business requirements (Q31–Q38) will be finalised once collection is complete.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Existing Solutions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4241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practice vs the proposed system, evidenced by pilot responses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5743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749040" cy="548640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37490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1508760"/>
            <a:ext cx="2514600" cy="548640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1508760"/>
            <a:ext cx="25146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practice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(83.3% of respondents)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720840" y="1508760"/>
            <a:ext cx="2514600" cy="548640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508760"/>
            <a:ext cx="25146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billing apps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(16.7% — e.g. Vyapar)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235440" y="1508760"/>
            <a:ext cx="2468880" cy="548640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35440" y="1508760"/>
            <a:ext cx="24688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057400"/>
            <a:ext cx="3749040" cy="420624"/>
          </a:xfrm>
          <a:prstGeom prst="rect">
            <a:avLst/>
          </a:prstGeom>
          <a:solidFill>
            <a:srgbClr val="F4F6FA"/>
          </a:solidFill>
          <a:ln w="6350">
            <a:solidFill>
              <a:srgbClr val="CFD5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057400"/>
            <a:ext cx="3749040" cy="42062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tracking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06240" y="2057400"/>
            <a:ext cx="2514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FD5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205740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20840" y="2057400"/>
            <a:ext cx="2514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FD5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205740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235440" y="2057400"/>
            <a:ext cx="2468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FD5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0" y="205740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2478024"/>
            <a:ext cx="3749040" cy="420624"/>
          </a:xfrm>
          <a:prstGeom prst="rect">
            <a:avLst/>
          </a:prstGeom>
          <a:solidFill>
            <a:srgbClr val="F4F6FA"/>
          </a:solidFill>
          <a:ln w="6350">
            <a:solidFill>
              <a:srgbClr val="CFD5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478024"/>
            <a:ext cx="3749040" cy="42062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Expiry-date alerts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06240" y="2478024"/>
            <a:ext cx="2514600" cy="420624"/>
          </a:xfrm>
          <a:prstGeom prst="rect">
            <a:avLst/>
          </a:prstGeom>
          <a:solidFill>
            <a:srgbClr val="F9FAFC"/>
          </a:solidFill>
          <a:ln w="6350">
            <a:solidFill>
              <a:srgbClr val="CFD5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247802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720840" y="2478024"/>
            <a:ext cx="2514600" cy="420624"/>
          </a:xfrm>
          <a:prstGeom prst="rect">
            <a:avLst/>
          </a:prstGeom>
          <a:solidFill>
            <a:srgbClr val="F9FAFC"/>
          </a:solidFill>
          <a:ln w="6350">
            <a:solidFill>
              <a:srgbClr val="CFD5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247802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235440" y="2478024"/>
            <a:ext cx="2468880" cy="420624"/>
          </a:xfrm>
          <a:prstGeom prst="rect">
            <a:avLst/>
          </a:prstGeom>
          <a:solidFill>
            <a:srgbClr val="F9FAFC"/>
          </a:solidFill>
          <a:ln w="6350">
            <a:solidFill>
              <a:srgbClr val="CFD5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35440" y="247802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2898648"/>
            <a:ext cx="3749040" cy="420624"/>
          </a:xfrm>
          <a:prstGeom prst="rect">
            <a:avLst/>
          </a:prstGeom>
          <a:solidFill>
            <a:srgbClr val="F4F6FA"/>
          </a:solidFill>
          <a:ln w="6350">
            <a:solidFill>
              <a:srgbClr val="CFD5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898648"/>
            <a:ext cx="3749040" cy="42062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/ invoicing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206240" y="2898648"/>
            <a:ext cx="2514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FD5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06240" y="289864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720840" y="2898648"/>
            <a:ext cx="2514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FD5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289864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235440" y="2898648"/>
            <a:ext cx="2468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FD5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35440" y="289864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57200" y="3319272"/>
            <a:ext cx="3749040" cy="420624"/>
          </a:xfrm>
          <a:prstGeom prst="rect">
            <a:avLst/>
          </a:prstGeom>
          <a:solidFill>
            <a:srgbClr val="F4F6FA"/>
          </a:solidFill>
          <a:ln w="6350">
            <a:solidFill>
              <a:srgbClr val="CFD5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319272"/>
            <a:ext cx="3749040" cy="42062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/ QR billing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206240" y="3319272"/>
            <a:ext cx="2514600" cy="420624"/>
          </a:xfrm>
          <a:prstGeom prst="rect">
            <a:avLst/>
          </a:prstGeom>
          <a:solidFill>
            <a:srgbClr val="F9FAFC"/>
          </a:solidFill>
          <a:ln w="6350">
            <a:solidFill>
              <a:srgbClr val="CFD5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06240" y="331927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720840" y="3319272"/>
            <a:ext cx="2514600" cy="420624"/>
          </a:xfrm>
          <a:prstGeom prst="rect">
            <a:avLst/>
          </a:prstGeom>
          <a:solidFill>
            <a:srgbClr val="F9FAFC"/>
          </a:solidFill>
          <a:ln w="6350">
            <a:solidFill>
              <a:srgbClr val="CFD5D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20840" y="331927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235440" y="3319272"/>
            <a:ext cx="2468880" cy="420624"/>
          </a:xfrm>
          <a:prstGeom prst="rect">
            <a:avLst/>
          </a:prstGeom>
          <a:solidFill>
            <a:srgbClr val="F9FAFC"/>
          </a:solidFill>
          <a:ln w="6350">
            <a:solidFill>
              <a:srgbClr val="CFD5D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35440" y="331927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57200" y="3739896"/>
            <a:ext cx="3749040" cy="420624"/>
          </a:xfrm>
          <a:prstGeom prst="rect">
            <a:avLst/>
          </a:prstGeom>
          <a:solidFill>
            <a:srgbClr val="F4F6FA"/>
          </a:solidFill>
          <a:ln w="6350">
            <a:solidFill>
              <a:srgbClr val="CFD5D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739896"/>
            <a:ext cx="3749040" cy="42062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Udhaar / credit ledger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206240" y="3739896"/>
            <a:ext cx="2514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FD5D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06240" y="373989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720840" y="3739896"/>
            <a:ext cx="2514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FD5D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20840" y="373989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9235440" y="3739896"/>
            <a:ext cx="2468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FD5D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35440" y="373989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457200" y="4160520"/>
            <a:ext cx="3749040" cy="420624"/>
          </a:xfrm>
          <a:prstGeom prst="rect">
            <a:avLst/>
          </a:prstGeom>
          <a:solidFill>
            <a:srgbClr val="F4F6FA"/>
          </a:solidFill>
          <a:ln w="6350">
            <a:solidFill>
              <a:srgbClr val="CFD5D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4160520"/>
            <a:ext cx="3749040" cy="42062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records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206240" y="4160520"/>
            <a:ext cx="2514600" cy="420624"/>
          </a:xfrm>
          <a:prstGeom prst="rect">
            <a:avLst/>
          </a:prstGeom>
          <a:solidFill>
            <a:srgbClr val="F9FAFC"/>
          </a:solidFill>
          <a:ln w="6350">
            <a:solidFill>
              <a:srgbClr val="CFD5D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06240" y="416052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6720840" y="4160520"/>
            <a:ext cx="2514600" cy="420624"/>
          </a:xfrm>
          <a:prstGeom prst="rect">
            <a:avLst/>
          </a:prstGeom>
          <a:solidFill>
            <a:srgbClr val="F9FAFC"/>
          </a:solidFill>
          <a:ln w="6350">
            <a:solidFill>
              <a:srgbClr val="CFD5D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20840" y="416052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9235440" y="4160520"/>
            <a:ext cx="2468880" cy="420624"/>
          </a:xfrm>
          <a:prstGeom prst="rect">
            <a:avLst/>
          </a:prstGeom>
          <a:solidFill>
            <a:srgbClr val="F9FAFC"/>
          </a:solidFill>
          <a:ln w="6350">
            <a:solidFill>
              <a:srgbClr val="CFD5D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235440" y="416052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457200" y="4581144"/>
            <a:ext cx="3749040" cy="420624"/>
          </a:xfrm>
          <a:prstGeom prst="rect">
            <a:avLst/>
          </a:prstGeom>
          <a:solidFill>
            <a:srgbClr val="F4F6FA"/>
          </a:solidFill>
          <a:ln w="6350">
            <a:solidFill>
              <a:srgbClr val="CFD5D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4581144"/>
            <a:ext cx="3749040" cy="42062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profit reports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206240" y="4581144"/>
            <a:ext cx="2514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FD5D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206240" y="458114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6720840" y="4581144"/>
            <a:ext cx="2514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FD5D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20840" y="458114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9235440" y="4581144"/>
            <a:ext cx="2468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FD5D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235440" y="458114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457200" y="5001768"/>
            <a:ext cx="3749040" cy="420624"/>
          </a:xfrm>
          <a:prstGeom prst="rect">
            <a:avLst/>
          </a:prstGeom>
          <a:solidFill>
            <a:srgbClr val="F4F6FA"/>
          </a:solidFill>
          <a:ln w="6350">
            <a:solidFill>
              <a:srgbClr val="CFD5D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5001768"/>
            <a:ext cx="3749040" cy="42062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billing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4206240" y="5001768"/>
            <a:ext cx="2514600" cy="420624"/>
          </a:xfrm>
          <a:prstGeom prst="rect">
            <a:avLst/>
          </a:prstGeom>
          <a:solidFill>
            <a:srgbClr val="F9FAFC"/>
          </a:solidFill>
          <a:ln w="6350">
            <a:solidFill>
              <a:srgbClr val="CFD5D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06240" y="500176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6720840" y="5001768"/>
            <a:ext cx="2514600" cy="420624"/>
          </a:xfrm>
          <a:prstGeom prst="rect">
            <a:avLst/>
          </a:prstGeom>
          <a:solidFill>
            <a:srgbClr val="F9FAFC"/>
          </a:solidFill>
          <a:ln w="6350">
            <a:solidFill>
              <a:srgbClr val="CFD5D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720840" y="500176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9235440" y="5001768"/>
            <a:ext cx="2468880" cy="420624"/>
          </a:xfrm>
          <a:prstGeom prst="rect">
            <a:avLst/>
          </a:prstGeom>
          <a:solidFill>
            <a:srgbClr val="F9FAFC"/>
          </a:solidFill>
          <a:ln w="6350">
            <a:solidFill>
              <a:srgbClr val="CFD5D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235440" y="50017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457200" y="5422392"/>
            <a:ext cx="3749040" cy="420624"/>
          </a:xfrm>
          <a:prstGeom prst="rect">
            <a:avLst/>
          </a:prstGeom>
          <a:solidFill>
            <a:srgbClr val="F4F6FA"/>
          </a:solidFill>
          <a:ln w="6350">
            <a:solidFill>
              <a:srgbClr val="CFD5D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57200" y="5422392"/>
            <a:ext cx="3749040" cy="42062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interface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4206240" y="5422392"/>
            <a:ext cx="2514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FD5D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206240" y="542239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6720840" y="5422392"/>
            <a:ext cx="2514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FD5D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720840" y="542239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9235440" y="5422392"/>
            <a:ext cx="2468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FD5D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235440" y="542239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457200" y="595274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supported     ✗ not supported     ? varies by product / not established by our questionnaire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457200" y="641908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categories are used because Q7–Q10 record whether a shop uses software and how it bills, without asking for product names. The rows marked ? are exactly the gaps that motivate the proposed system.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4241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current situation to the core problem and the need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5743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SITUATION  —  evidenced by 12 pilot responses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810512" cy="1417320"/>
          </a:xfrm>
          <a:prstGeom prst="roundRect">
            <a:avLst>
              <a:gd name="adj" fmla="val 5161"/>
            </a:avLst>
          </a:prstGeom>
          <a:solidFill>
            <a:srgbClr val="E9EEF6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38528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records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450592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66.7% track inventory in a register or notebook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59152" y="1828800"/>
            <a:ext cx="1810512" cy="1417320"/>
          </a:xfrm>
          <a:prstGeom prst="roundRect">
            <a:avLst>
              <a:gd name="adj" fmla="val 5161"/>
            </a:avLst>
          </a:prstGeom>
          <a:solidFill>
            <a:srgbClr val="E9EEF6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1938528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billing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50592" y="2450592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41.7% still bill by hand; 33.3% use a standalone machine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61104" y="1828800"/>
            <a:ext cx="1810512" cy="1417320"/>
          </a:xfrm>
          <a:prstGeom prst="roundRect">
            <a:avLst>
              <a:gd name="adj" fmla="val 5161"/>
            </a:avLst>
          </a:prstGeom>
          <a:solidFill>
            <a:srgbClr val="E9EEF6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52544" y="1938528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software adoption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52544" y="2450592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83.3% use no software / app to run the shop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63056" y="1828800"/>
            <a:ext cx="1810512" cy="1417320"/>
          </a:xfrm>
          <a:prstGeom prst="roundRect">
            <a:avLst>
              <a:gd name="adj" fmla="val 5161"/>
            </a:avLst>
          </a:prstGeom>
          <a:solidFill>
            <a:srgbClr val="E9EEF6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1938528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uncertainty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54496" y="2450592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restock only weekly — stock-outs found late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65008" y="1828800"/>
            <a:ext cx="1810512" cy="1417320"/>
          </a:xfrm>
          <a:prstGeom prst="roundRect">
            <a:avLst>
              <a:gd name="adj" fmla="val 5161"/>
            </a:avLst>
          </a:prstGeom>
          <a:solidFill>
            <a:srgbClr val="E9EEF6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56448" y="1938528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risk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56448" y="2450592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Unsold perishable and confectionery stock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966960" y="1828800"/>
            <a:ext cx="1810512" cy="1417320"/>
          </a:xfrm>
          <a:prstGeom prst="roundRect">
            <a:avLst>
              <a:gd name="adj" fmla="val 5161"/>
            </a:avLst>
          </a:prstGeom>
          <a:solidFill>
            <a:srgbClr val="E9EEF6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0" y="1938528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Udhaar tracking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0" y="2450592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kept informally, no formal ledger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52044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E9EEF6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703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" y="402336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general, kirana and confectionery stores have no simple, integrated way to manage inventory, billing, expiry and customer credit together — and existing software is either billing-only or built for larger retail.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172200" y="3520440"/>
            <a:ext cx="5532120" cy="2651760"/>
          </a:xfrm>
          <a:prstGeom prst="roundRect">
            <a:avLst>
              <a:gd name="adj" fmla="val 2759"/>
            </a:avLst>
          </a:prstGeom>
          <a:solidFill>
            <a:srgbClr val="F4F6FA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3703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0" y="402336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practical, affordable and easy-to-use system combining inventory, billing, expiry tracking, supplier records and an udhaar ledger — usable by owners with limited exposure to software.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in the current-situation row corresponds to a question already in the form (Sections 2 and 3); relative severity will be confirmed as more responses come in.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Features and Novelty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4241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map of the proposed modules, and what makes the combination worth building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5743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PROPOSED FEATURES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E9EEF6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92024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" y="2340864"/>
            <a:ext cx="82296" cy="822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2286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levels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1792" y="2633472"/>
            <a:ext cx="82296" cy="822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25786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Expiry-date tracking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" y="2926080"/>
            <a:ext cx="82296" cy="822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28712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alerts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971800" y="178308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E9EEF6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36392" y="192024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136392" y="2340864"/>
            <a:ext cx="82296" cy="822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8" name="Text 16"/>
          <p:cNvSpPr/>
          <p:nvPr/>
        </p:nvSpPr>
        <p:spPr>
          <a:xfrm>
            <a:off x="3282696" y="2286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36392" y="2633472"/>
            <a:ext cx="82296" cy="822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3282696" y="25786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/ QR billing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36392" y="2926080"/>
            <a:ext cx="82296" cy="822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2" name="Text 20"/>
          <p:cNvSpPr/>
          <p:nvPr/>
        </p:nvSpPr>
        <p:spPr>
          <a:xfrm>
            <a:off x="3282696" y="28712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· Discounts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36392" y="3218688"/>
            <a:ext cx="82296" cy="822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4" name="Text 22"/>
          <p:cNvSpPr/>
          <p:nvPr/>
        </p:nvSpPr>
        <p:spPr>
          <a:xfrm>
            <a:off x="3282696" y="31638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billing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0" y="178308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E9EEF6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192024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50992" y="2340864"/>
            <a:ext cx="82296" cy="822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8" name="Text 26"/>
          <p:cNvSpPr/>
          <p:nvPr/>
        </p:nvSpPr>
        <p:spPr>
          <a:xfrm>
            <a:off x="5797296" y="2286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udhaar ledger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50992" y="2633472"/>
            <a:ext cx="82296" cy="822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0" name="Text 28"/>
          <p:cNvSpPr/>
          <p:nvPr/>
        </p:nvSpPr>
        <p:spPr>
          <a:xfrm>
            <a:off x="5797296" y="25786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management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650992" y="2926080"/>
            <a:ext cx="82296" cy="822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2" name="Text 30"/>
          <p:cNvSpPr/>
          <p:nvPr/>
        </p:nvSpPr>
        <p:spPr>
          <a:xfrm>
            <a:off x="5797296" y="28712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history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3749040"/>
            <a:ext cx="7406640" cy="960120"/>
          </a:xfrm>
          <a:prstGeom prst="roundRect">
            <a:avLst>
              <a:gd name="adj" fmla="val 7619"/>
            </a:avLst>
          </a:prstGeom>
          <a:solidFill>
            <a:srgbClr val="F4F6FA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85876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ACCESS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41330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profit reports · automated daily/weekly/monthly reports · multi-user staff login · multi-language interface · SMS/WhatsApp alerts · multi-branch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092440" y="178308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1F3864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75320" y="1920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NOVELTY / INNOVATION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27532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595360" y="228600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+ billing in one system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595360" y="254203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Perishable stock tracked where the sale happens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2753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595360" y="306324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 udhaar ledger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595360" y="331927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Per-customer balance and history, usually omitted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27532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595360" y="384048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decided from responses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595360" y="409651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 follows shopkeeper answers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27532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595360" y="46177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low-tech comfort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595360" y="487375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dashboard, regional language, offline billing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275320" y="5394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595360" y="53949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Integrated, not separate tools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8595360" y="565099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billing and reporting share one record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7200" y="6446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above appears in Q19–Q30. Final scope will be limited to what respondents ask for; the rest is recorded as future work.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4241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architecture and hardware — stack to be finalised after requirement analysis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5743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 —  planned stack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E9EEF6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2128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+ mobile app · [to be finalised]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E9EEF6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26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321868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framework · [to be finalised]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E9EEF6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931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422452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from Section 5 fields · [to be finalised]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484632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E9EEF6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937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523036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Barcode/QR scanning (Q20) · SMS/WhatsApp (Q26) — only if responses require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6364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 —  planned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182880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4F6FA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920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machine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46520" y="221284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[Laptop / desktop configuration to be filled]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63640" y="283464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4F6FA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2926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smartphone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46520" y="321868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testing on the devices reported by respondents (Q31)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63640" y="384048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4F6FA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3931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46520" y="422452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[Cloud or local server to be finalised]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63640" y="484632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4F6FA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4937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scanner / receipt printer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46520" y="52303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barcode billing / counter use is confirmed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setup shown above, subject to change. Final implementation will be recorded in the final report once the stack is fixed after response analysis and system design.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4241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roadmap from the third week of August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57432" y="6446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157984" cy="3383280"/>
          </a:xfrm>
          <a:prstGeom prst="roundRect">
            <a:avLst>
              <a:gd name="adj" fmla="val 3390"/>
            </a:avLst>
          </a:prstGeom>
          <a:solidFill>
            <a:srgbClr val="E9EEF6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3736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039112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 – W4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94360" y="2478024"/>
            <a:ext cx="82296" cy="822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42316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gathering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" y="3044952"/>
            <a:ext cx="82296" cy="822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299008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finalisation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4360" y="3611880"/>
            <a:ext cx="82296" cy="822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557016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to shops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4663440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Current phase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06624" y="1600200"/>
            <a:ext cx="2157984" cy="3383280"/>
          </a:xfrm>
          <a:prstGeom prst="roundRect">
            <a:avLst>
              <a:gd name="adj" fmla="val 3390"/>
            </a:avLst>
          </a:prstGeom>
          <a:solidFill>
            <a:srgbClr val="F4F6FA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43784" y="173736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43784" y="2039112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 – W4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843784" y="2478024"/>
            <a:ext cx="82296" cy="822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2999232" y="242316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collection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843784" y="3044952"/>
            <a:ext cx="82296" cy="822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2" name="Text 20"/>
          <p:cNvSpPr/>
          <p:nvPr/>
        </p:nvSpPr>
        <p:spPr>
          <a:xfrm>
            <a:off x="2999232" y="299008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analysis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843784" y="3611880"/>
            <a:ext cx="82296" cy="822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4" name="Text 22"/>
          <p:cNvSpPr/>
          <p:nvPr/>
        </p:nvSpPr>
        <p:spPr>
          <a:xfrm>
            <a:off x="2999232" y="3557016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 analysis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56048" y="1600200"/>
            <a:ext cx="2157984" cy="3383280"/>
          </a:xfrm>
          <a:prstGeom prst="roundRect">
            <a:avLst>
              <a:gd name="adj" fmla="val 3390"/>
            </a:avLst>
          </a:prstGeom>
          <a:solidFill>
            <a:srgbClr val="F4F6FA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93208" y="173736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93208" y="2039112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 – W2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93208" y="2478024"/>
            <a:ext cx="82296" cy="822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9" name="Text 27"/>
          <p:cNvSpPr/>
          <p:nvPr/>
        </p:nvSpPr>
        <p:spPr>
          <a:xfrm>
            <a:off x="5248656" y="242316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93208" y="3044952"/>
            <a:ext cx="82296" cy="822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1" name="Text 29"/>
          <p:cNvSpPr/>
          <p:nvPr/>
        </p:nvSpPr>
        <p:spPr>
          <a:xfrm>
            <a:off x="5248656" y="299008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93208" y="3611880"/>
            <a:ext cx="82296" cy="822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3" name="Text 31"/>
          <p:cNvSpPr/>
          <p:nvPr/>
        </p:nvSpPr>
        <p:spPr>
          <a:xfrm>
            <a:off x="5248656" y="3557016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begins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205472" y="1600200"/>
            <a:ext cx="2157984" cy="3383280"/>
          </a:xfrm>
          <a:prstGeom prst="roundRect">
            <a:avLst>
              <a:gd name="adj" fmla="val 3390"/>
            </a:avLst>
          </a:prstGeom>
          <a:solidFill>
            <a:srgbClr val="F4F6FA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42632" y="173736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42632" y="2039112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 – W4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342632" y="2478024"/>
            <a:ext cx="82296" cy="822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8" name="Text 36"/>
          <p:cNvSpPr/>
          <p:nvPr/>
        </p:nvSpPr>
        <p:spPr>
          <a:xfrm>
            <a:off x="7498080" y="242316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342632" y="3044952"/>
            <a:ext cx="82296" cy="822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0" name="Text 38"/>
          <p:cNvSpPr/>
          <p:nvPr/>
        </p:nvSpPr>
        <p:spPr>
          <a:xfrm>
            <a:off x="7498080" y="299008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342632" y="3611880"/>
            <a:ext cx="82296" cy="822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0" y="3557016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454896" y="1600200"/>
            <a:ext cx="2157984" cy="3383280"/>
          </a:xfrm>
          <a:prstGeom prst="roundRect">
            <a:avLst>
              <a:gd name="adj" fmla="val 3390"/>
            </a:avLst>
          </a:prstGeom>
          <a:solidFill>
            <a:srgbClr val="F4F6FA"/>
          </a:solidFill>
          <a:ln w="12700">
            <a:solidFill>
              <a:srgbClr val="CFD5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592056" y="173736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592056" y="2039112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 – W2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592056" y="2478024"/>
            <a:ext cx="82296" cy="822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7" name="Text 45"/>
          <p:cNvSpPr/>
          <p:nvPr/>
        </p:nvSpPr>
        <p:spPr>
          <a:xfrm>
            <a:off x="9747504" y="242316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592056" y="3044952"/>
            <a:ext cx="82296" cy="822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9" name="Text 47"/>
          <p:cNvSpPr/>
          <p:nvPr/>
        </p:nvSpPr>
        <p:spPr>
          <a:xfrm>
            <a:off x="9747504" y="299008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592056" y="3611880"/>
            <a:ext cx="82296" cy="822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51" name="Text 49"/>
          <p:cNvSpPr/>
          <p:nvPr/>
        </p:nvSpPr>
        <p:spPr>
          <a:xfrm>
            <a:off x="9747504" y="3557016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demo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57200" y="51206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pilot responses already collected as of Aug 18 — ahead of the September collection window.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57200" y="5989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dependency: system and database design cannot start until response analysis is complete. Durations are indicative and shown at month level; exact dates to be aligned with the department review schedule.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1470</Words>
  <Application>Microsoft Office PowerPoint</Application>
  <PresentationFormat>Widescreen</PresentationFormat>
  <Paragraphs>300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Ayushi Mittal</cp:lastModifiedBy>
  <cp:revision>2</cp:revision>
  <dcterms:created xsi:type="dcterms:W3CDTF">2026-08-18T06:55:10Z</dcterms:created>
  <dcterms:modified xsi:type="dcterms:W3CDTF">2026-08-19T05:16:34Z</dcterms:modified>
</cp:coreProperties>
</file>